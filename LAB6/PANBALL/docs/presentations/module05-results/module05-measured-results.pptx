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0e123d393440fc" /><Relationship Type="http://schemas.openxmlformats.org/officeDocument/2006/relationships/extended-properties" Target="/docProps/app.xml" Id="R38d2457132f04b82" /><Relationship Type="http://schemas.openxmlformats.org/officeDocument/2006/relationships/officeDocument" Target="/ppt/presentation.xml" Id="R7e5ab6974269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116e0dcd04b39"/>
  </p:sldMasterIdLst>
  <p:notesMasterIdLst>
    <p:notesMasterId xmlns:r="http://schemas.openxmlformats.org/officeDocument/2006/relationships" r:id="R84b2f0fa42bc4010"/>
  </p:notesMasterIdLst>
  <p:sldIdLst>
    <p:sldId xmlns:r="http://schemas.openxmlformats.org/officeDocument/2006/relationships" id="256" r:id="Raa2509de93024f96"/>
    <p:sldId xmlns:r="http://schemas.openxmlformats.org/officeDocument/2006/relationships" id="257" r:id="R2b8189905caa4299"/>
    <p:sldId xmlns:r="http://schemas.openxmlformats.org/officeDocument/2006/relationships" id="258" r:id="Re982aa44106947aa"/>
    <p:sldId xmlns:r="http://schemas.openxmlformats.org/officeDocument/2006/relationships" id="259" r:id="R28b69ccf5eec4470"/>
    <p:sldId xmlns:r="http://schemas.openxmlformats.org/officeDocument/2006/relationships" id="260" r:id="Rf2f4958b73e94e2a"/>
    <p:sldId xmlns:r="http://schemas.openxmlformats.org/officeDocument/2006/relationships" id="261" r:id="Rca85c79b0c35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f3ac29bba4737" /><Relationship Type="http://schemas.openxmlformats.org/officeDocument/2006/relationships/slideMaster" Target="/ppt/slideMasters/slideMaster1.xml" Id="Rbc5116e0dcd04b39" /><Relationship Type="http://schemas.openxmlformats.org/officeDocument/2006/relationships/notesMaster" Target="/ppt/notesMasters/notesMaster1.xml" Id="R84b2f0fa42bc4010" /><Relationship Type="http://schemas.openxmlformats.org/officeDocument/2006/relationships/presProps" Target="/ppt/presProps.xml" Id="R20765c4decc74200" /><Relationship Type="http://schemas.openxmlformats.org/officeDocument/2006/relationships/tableStyles" Target="/ppt/tableStyles.xml" Id="R162fdda6124549f1" /><Relationship Type="http://schemas.openxmlformats.org/officeDocument/2006/relationships/slide" Target="/ppt/slides/slide1.xml" Id="Raa2509de93024f96" /><Relationship Type="http://schemas.openxmlformats.org/officeDocument/2006/relationships/slide" Target="/ppt/slides/slide2.xml" Id="R2b8189905caa4299" /><Relationship Type="http://schemas.openxmlformats.org/officeDocument/2006/relationships/slide" Target="/ppt/slides/slide3.xml" Id="Re982aa44106947aa" /><Relationship Type="http://schemas.openxmlformats.org/officeDocument/2006/relationships/slide" Target="/ppt/slides/slide4.xml" Id="R28b69ccf5eec4470" /><Relationship Type="http://schemas.openxmlformats.org/officeDocument/2006/relationships/slide" Target="/ppt/slides/slide5.xml" Id="Rf2f4958b73e94e2a" /><Relationship Type="http://schemas.openxmlformats.org/officeDocument/2006/relationships/slide" Target="/ppt/slides/slide6.xml" Id="Rca85c79b0c35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6039814b648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7899656e24845" /><Relationship Type="http://schemas.openxmlformats.org/officeDocument/2006/relationships/notesMaster" Target="/ppt/notesMasters/notesMaster1.xml" Id="R9981e8ff4d7d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29697c02049f3" /><Relationship Type="http://schemas.openxmlformats.org/officeDocument/2006/relationships/notesMaster" Target="/ppt/notesMasters/notesMaster1.xml" Id="R805c9fb115f7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f30d8f9914601" /><Relationship Type="http://schemas.openxmlformats.org/officeDocument/2006/relationships/notesMaster" Target="/ppt/notesMasters/notesMaster1.xml" Id="R61e284c7d78641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5fa6ffce344af" /><Relationship Type="http://schemas.openxmlformats.org/officeDocument/2006/relationships/notesMaster" Target="/ppt/notesMasters/notesMaster1.xml" Id="R6eff34104613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982e4c4f3a4c9d" /><Relationship Type="http://schemas.openxmlformats.org/officeDocument/2006/relationships/notesMaster" Target="/ppt/notesMasters/notesMaster1.xml" Id="R471e3f7c86c4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205d0f7624b92" /><Relationship Type="http://schemas.openxmlformats.org/officeDocument/2006/relationships/notesMaster" Target="/ppt/notesMasters/notesMaster1.xml" Id="R236f21d47284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เป้าหมายของโมดูล 05 คือเลือกเอกสารที่ตอบคำถามได้ก่อนส่งให้โมดูล 06 จึงวัดความถูกต้องของการค้นหาและเวลาต่อคำค้น แยกจากคุณภาพคำตอบ LLM</a:t>
            </a:r>
          </a:p>
          <a:p xmlns:a="http://schemas.openxmlformats.org/drawingml/2006/main">
            <a:r>
              <a:t>ชุดที่ตอบได้มี 233 กรณี: verbatim 60, partial 60, natural 60, slang 33 และ match 20 กรณี ส่วนคำถามไม่มีคำตอบมีอีก 20 กรณี รวม 253 กรณี เนื่องจากบางชุดใช้หลายรูปประโยคของคำถามเดิม ตัวเลขนี้ไม่ใช่คำถามอิสระ 253 หัวข้อ</a:t>
            </a:r>
          </a:p>
          <a:p xmlns:a="http://schemas.openxmlformats.org/drawingml/2006/main">
            <a:r>
              <a:t>คลัง 1,967 เอกสาร 1,999 chunks เป็นสำเนา SQLite: trivia 1,953 กับเอกสารข้อมูลสดจำลอง 14 รายการ วัดบน Windows 11, CPU 8 logical processors, Python 3.12.10, torch 2.14.0+cpu, sentence-transformers 6.1.0</a:t>
            </a:r>
          </a:p>
          <a:p xmlns:a="http://schemas.openxmlformats.org/drawingml/2006/main">
            <a:r>
              <a:t>ใช้ embedding paraphrase-multilingual-MiniLM-L12-v2, candidate_k=20, RRF k=60, depth=20 โหลดโมเดลก่อน วอร์มด้วย 3 คำถามแรกแล้วจึงจับเวลา time.perf_counter คร่อม Searcher.search หนึ่งครั้งต่อคำค้นต่อ mode และสรุป numpy.percentile ภายในแต่ละกลุ่ม ไม่รวม HTTP โหลดโมเดล หรือ concurrent load</a:t>
            </a:r>
          </a:p>
          <a:p xmlns:a="http://schemas.openxmlformats.org/drawingml/2006/main">
            <a:r>
              <a:t>Hit@k นับเอกสารไม่ใช่ chunk; เอกสารซ้ำไม่นับเพิ่ม MRR คือค่าเฉลี่ย 1/rank ของเอกสารที่คาดหวังตัวแรกถึงอันดับ 20 ไม่พบเป็น 0 p95 เป็น percentile ของเวลาต่อคำค้น ไม่ใช่เวลาเฉลี่ย</a:t>
            </a:r>
          </a:p>
          <a:p xmlns:a="http://schemas.openxmlformats.org/drawingml/2006/main">
            <a:r>
              <a:t>Sources: D:/Advanced-Topic-in-Computer-Software-Course-Team-D-II/Advanced-Topic-in-Computer-Software-Course-Team-D-II/eval/results/retrieval.json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D:/Advanced-Topic-in-Computer-Software-Course-Team-D-II/Advanced-Topic-in-Computer-Software-Course-Team-D-II/services/05_retrieval_knowledge/scripts/eval_retrieval.py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ปัญหาคือผู้ใช้ถามด้วยชื่อเล่นไทย แต่เอกสารใช้ชื่อภาษาอังกฤษ วิธีแก้ค้นชื่อเล่นจากทั้ง query และ query_original แล้วต่อชื่อทางการเฉพาะฝั่ง BM25 ฝั่ง vector ยังคง embed query ซึ่งอาจเป็น English rewrite จาก Router</a:t>
            </a:r>
          </a:p>
          <a:p xmlns:a="http://schemas.openxmlformats.org/drawingml/2006/main">
            <a:r>
              <a:t>ใช้ pythainlp แยกคำไทย จึงจับผีเป็นคำ แต่ไม่จับเป็นส่วนหนึ่งของผีเสื้อ ใช้ alias ยาวก่อนและกันจับช่วงคำซ้ำ ไม่เปลี่ยน team_ids filters ของ Router</a:t>
            </a:r>
          </a:p>
          <a:p xmlns:a="http://schemas.openxmlformats.org/drawingml/2006/main">
            <a:r>
              <a:t>AliasProvider เริ่มจากไฟล์สำรอง แล้วดึง GET /football/teams ของ 07 แบบ background merge ตาม team_id ถ้า 07 ล่มหรือไม่มีชื่อเล่นยังเก็บชื่อจากไฟล์เดิมไว้ query ไม่รอ feed</a:t>
            </a:r>
          </a:p>
          <a:p xmlns:a="http://schemas.openxmlformats.org/drawingml/2006/main">
            <a:r>
              <a:t>เพิ่ม thai_nicknames_qa.txt จำนวน 20 รายการเข้า trivia KB เพื่อให้ตอบทั้งทีมที่มีฉายานั้นและที่มาของฉายา การเพิ่ม QA เป็นคนละกลไกกับ query expansion</a:t>
            </a:r>
          </a:p>
          <a:p xmlns:a="http://schemas.openxmlformats.org/drawingml/2006/main">
            <a:r>
              <a:t>ตารางนี้คือ expected behavior ของกรณีทดสอบที่มีใน repository ไม่ใช่การวัด accuracy ทั้งระบบ และไม่ได้รายงานว่ารัน tests ใหม่ในงานทำสไลด์ test_searcher ใช้ fixture ขนาดเล็กและ fake embedder เปิด aliases แล้วพบเอกสารที่ team_id ตัวแรกเป็น 57 ปิด aliases แล้ว BM25 ให้ [] ในคำถามเดียวกัน test_aliases ตรวจผีชนะไหมและไม่จับผีเสื้อ</a:t>
            </a:r>
          </a:p>
          <a:p xmlns:a="http://schemas.openxmlformats.org/drawingml/2006/main">
            <a:r>
              <a:t>Sources: D:/Advanced-Topic-in-Computer-Software-Course-Team-D-II/Advanced-Topic-in-Computer-Software-Course-Team-D-II/services/05_retrieval_knowledge/app/search/aliases.py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D:/Advanced-Topic-in-Computer-Software-Course-Team-D-II/Advanced-Topic-in-Computer-Software-Course-Team-D-II/services/05_retrieval_knowledge/app/search/tokenize.py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D:/Advanced-Topic-in-Computer-Software-Course-Team-D-II/Advanced-Topic-in-Computer-Software-Course-Team-D-II/services/05_retrieval_knowledge/app/search/hybrid.py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D:/Advanced-Topic-in-Computer-Software-Course-Team-D-II/Advanced-Topic-in-Computer-Software-Course-Team-D-II/services/05_retrieval_knowledge/tests/test_searcher.py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D:/Advanced-Topic-in-Computer-Software-Course-Team-D-II/Advanced-Topic-in-Computer-Software-Course-Team-D-II/services/05_retrieval_knowledge/tests/test_aliases.py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D:/Advanced-Topic-in-Computer-Software-Course-Team-D-II/Advanced-Topic-in-Computer-Software-Course-Team-D-II/services/05_retrieval_knowledge/tests/test_alias_feed.py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D:/Advanced-Topic-in-Computer-Software-Course-Team-D-II/Advanced-Topic-in-Computer-Software-Course-Team-D-II/services/05_retrieval_knowledge/data/thai_nicknames_qa.txt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ตารางนี้เปรียบเทียบ Hit@1 บนชุดเดียวกัน ใช้ผล JSON โดยตรง ไม่รวมคำถามไม่มีคำตอบใน denominator</a:t>
            </a:r>
          </a:p>
          <a:p xmlns:a="http://schemas.openxmlformats.org/drawingml/2006/main">
            <a:r>
              <a:t>ชุดชื่อเล่น n=33 Hybrid ถูก 28/33 =84.8%, ms-marco ถูก31/33=93.9% เพิ่ม9.1 percentage points ไม่ใช่เพิ่ม9.1%เชิงสัมพัทธ์ MRR ชุดนี้เพิ่มจาก0.9192เป็น0.9697 และHit@5คง100%ทั้งสอง</a:t>
            </a:r>
          </a:p>
          <a:p xmlns:a="http://schemas.openxmlformats.org/drawingml/2006/main">
            <a:r>
              <a:t>ms-marco ได้ Hit@1 เท่ากับหรือสูงกว่า bge ในทั้ง5กลุ่ม แต่ผลนี้เป็นคลังเล็กและข้อมูลแมตช์จำลอง จึงยังใช้เป็นหลักฐานเปิด default บนproductionอย่างเดียวไม่ได้</a:t>
            </a:r>
          </a:p>
          <a:p xmlns:a="http://schemas.openxmlformats.org/drawingml/2006/main">
            <a:r>
              <a:t>ชื่อเล่นใน golden_trivia คือ phrasingกลุ่มslang ไม่ใช่การทดลองเปิด/ปิดalias ดังนั้นห้ามนำ84.8%กับ93.9%ไปอ้างเป็นก่อน/หลังแก้ชื่อเล่น ต้องเรียกว่าเปรียบเทียบ Hybrid กับHybrid+reranker</a:t>
            </a:r>
          </a:p>
          <a:p xmlns:a="http://schemas.openxmlformats.org/drawingml/2006/main">
            <a:r>
              <a:t>Sources: D:/Advanced-Topic-in-Computer-Software-Course-Team-D-II/Advanced-Topic-in-Computer-Software-Course-Team-D-II/eval/results/retrieval.json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D:/Advanced-Topic-in-Computer-Software-Course-Team-D-II/Advanced-Topic-in-Computer-Software-Course-Team-D-II/services/05_retrieval_knowledge/scripts/eval_retrieval.py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กราฟใช้ค่าสูงสุดของ p95 รายกลุ่ม ไม่ใช่ p95 รวมทั้งชุด และไม่ใช่ maximum ของคำค้นเดี่ยว ใช้หน่วยวินาทีทั้งกราฟ</a:t>
            </a:r>
          </a:p>
          <a:p xmlns:a="http://schemas.openxmlformats.org/drawingml/2006/main">
            <a:r>
              <a:t>Hybrid max p95=69.179240ms จากslang, ms-marco=606.583090ms จากnatural, bge=12513.613525ms จากverbatim โดยช่วงp95ของbgeคือ4.920ถึง12.514วินาที</a:t>
            </a:r>
          </a:p>
          <a:p xmlns:a="http://schemas.openxmlformats.org/drawingml/2006/main">
            <a:r>
              <a:t>ใน clients.py คำขอ Router ไป /search กำหนดtimeout10วินาที ไม่ใช่timeoutทั้งRouter bgeบางกลุ่มเกิน10วินาทีตั้งแต่จับในprocess จึงไม่เหมาะกับเครื่องCPUที่ทดสอบนี้ ส่วนms-marcoยังต่ำกว่าdeadlineในbenchmark แต่ต้องรวมHTTPและloadจริงก่อนตัดสิน</a:t>
            </a:r>
          </a:p>
          <a:p xmlns:a="http://schemas.openxmlformats.org/drawingml/2006/main">
            <a:r>
              <a:t>ความคลาดเคลื่อนแหล่งข้อมูล: READMEสรุปท้ายไฟล์ยังระบุ613.7msและ13.8วินาที แต่eval/results/retrieval.jsonที่generate27ก.ย.2026ให้606.6msและ12.51วินาที สไลด์ยึดJSON; ข้อสรุปbgeเกิน10วินาทีไม่เปลี่ยน ห้ามอ้างประมาณ14วินาทีว่าเป็นผลของJSONรอบนี้</a:t>
            </a:r>
          </a:p>
          <a:p xmlns:a="http://schemas.openxmlformats.org/drawingml/2006/main">
            <a:r>
              <a:t>Sources: D:/Advanced-Topic-in-Computer-Software-Course-Team-D-II/Advanced-Topic-in-Computer-Software-Course-Team-D-II/eval/results/retrieval.json</a:t>
            </a:r>
          </a:p>
          <a:p xmlns:a="http://schemas.openxmlformats.org/drawingml/2006/main">
            <a:r>
              <a:t>D:/Advanced-Topic-in-Computer-Software-Course-Team-D-II/Advanced-Topic-in-Computer-Software-Course-Team-D-II/services/03_ai_router_agent/app/clients.py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ผลล่าสุดชุดไทย121กรณี: historical32, match20, trivia39, multi_doc10, out_of_kb20 สไลด์เลือก4กลุ่มมีคำตอบรวม101กรณี และแสดงHit@5ของHybridโดยไม่เปิดreranker</a:t>
            </a:r>
          </a:p>
          <a:p xmlns:a="http://schemas.openxmlformats.org/drawingml/2006/main">
            <a:r>
              <a:t>raw คือใช้คำถามไทยตรง routedคือผ่านกฎ/การrewriteและfiltersของRouterก่อนค้น โดยบางกรณีกฎยังตัดสินไม่ได้และค้นด้วยไทยตรงแทนเส้นclassifier/LLM ทั้งหมดไม่ใช่liveend-to-endพร้อมLLM</a:t>
            </a:r>
          </a:p>
          <a:p xmlns:a="http://schemas.openxmlformats.org/drawingml/2006/main">
            <a:r>
              <a:t>Historicalขึ้น62.5เป็น96.9, match40เป็น100, triviaลด76.9เป็น71.8 และmulti_docคง40 แสดงว่าการrewrite/filterช่วยบางกลุ่มและมีข้อจำกัดที่ต้องแก้ ไม่สรุปว่าทุกคำถามดีขึ้น</a:t>
            </a:r>
          </a:p>
          <a:p xmlns:a="http://schemas.openxmlformats.org/drawingml/2006/main">
            <a:r>
              <a:t>กรณีmulti_docต้องเจอเอกสารที่คาดหวังครบทุกชิ้นในtop5 จึงผ่าน ไม่ใช่เจอเพียงหนึ่งชิ้น</a:t>
            </a:r>
          </a:p>
          <a:p xmlns:a="http://schemas.openxmlformats.org/drawingml/2006/main">
            <a:r>
              <a:t>ผลนี้รวมผลของRouter, query expansion,filtersและคลังความรู้ จึงไม่ใช่A/Bเฉพาะaliasหรือผลreranker และไม่ควรเทียบค่าเปอร์เซ็นต์ตรงๆกับbenchmark27ก.ย.ซึ่งเป็นคนละชุด</a:t>
            </a:r>
          </a:p>
          <a:p xmlns:a="http://schemas.openxmlformats.org/drawingml/2006/main">
            <a:r>
              <a:t>Sources: D:/Advanced-Topic-in-Computer-Software-Course-Team-D-II/Advanced-Topic-in-Computer-Software-Course-Team-D-II/eval/results/retrieval_thai.json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D:/Advanced-Topic-in-Computer-Software-Course-Team-D-II/Advanced-Topic-in-Computer-Software-Course-Team-D-II/services/05_retrieval_knowledge/scripts/eval_thai.py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ข้อสรุปคือปิดrerankerเป็นค่าเริ่มต้น RERANK_MODELเป็นค่าว่าง; ผู้deployเลือกเปิดms-marcoผ่านRERANK_MODEL=cross-encoder/ms-marco-MiniLM-L-6-v2 เมื่อวัดกับข้อมูลจริงของ07 queryจริงที่Routerส่งและเครื่องปลายทางแล้ว ไม่ใช่เลือกจากbenchmarkข้อมูลจำลองอย่างเดียว</a:t>
            </a:r>
          </a:p>
          <a:p xmlns:a="http://schemas.openxmlformats.org/drawingml/2006/main">
            <a:r>
              <a:t>READMEรายงานการวัดHTTP/searchแยกวันที่25ก.ย.เครื่องเดียวกัน ms-marcoปกติp50=200ms,p95=471ms; ระหว่างrebuildp50=397ms,p95=678ms,สูงสุด718ms มีupsert119ms แต่READMEไม่ได้เก็บจำนวนrequestหรือrawlatenciesครบให้ตรวจ จึงใช้เป็นรายงานประกอบและแยกจากผลJSONในprocess ห้ามนำไปหารหรือเทียบเป็นผลspeedupกับรอบอื่น</a:t>
            </a:r>
          </a:p>
          <a:p xmlns:a="http://schemas.openxmlformats.org/drawingml/2006/main">
            <a:r>
              <a:t>การวัดก่อนเปิดบนเครื่องจริงควรเทียบrerankerปิด/เปิดบนsnapshotเดียวกัน ใช้เอกสาร07จริงและRouterqueryจริง รวมชื่อเล่น ไม่มีfilter หลายทีม ไม่มีคำตอบ เก็บHit@1,Hit@5,MRR,false-positive,p50,p95และจำนวนtimeoutผ่านHTTPพร้อมrebuild กำหนดจำนวนคำถาม/repeats/loadและรายงานไว้ ไม่ใส่เกณฑ์productionที่ยังไม่ได้กำหนด</a:t>
            </a:r>
          </a:p>
          <a:p xmlns:a="http://schemas.openxmlformats.org/drawingml/2006/main">
            <a:r>
              <a:t>พูดตอนปิด: เราพบว่าrerankerจัดลำดับดีขึ้นในbenchmark แต่รุ่นใหญ่ใช้เวลาเกิน10วินาทีบนCPU ส่วนms-marcoเร็วกว่าและแม่นกว่าbgeในชุดนี้ จึงให้เป็นตัวเลือกหลังวัดเครื่องdeployจริง และคงdefaultปิดระหว่างนั้น</a:t>
            </a:r>
          </a:p>
          <a:p xmlns:a="http://schemas.openxmlformats.org/drawingml/2006/main">
            <a:r>
              <a:t>Sources: D:/Advanced-Topic-in-Computer-Software-Course-Team-D-II/Advanced-Topic-in-Computer-Software-Course-Team-D-II/services/05_retrieval_knowledge/app/core/config.py</a:t>
            </a:r>
          </a:p>
          <a:p xmlns:a="http://schemas.openxmlformats.org/drawingml/2006/main">
            <a:r>
              <a:t>D:/Advanced-Topic-in-Computer-Software-Course-Team-D-II/Advanced-Topic-in-Computer-Software-Course-Team-D-II/services/05_retrieval_knowledge/README.md</a:t>
            </a:r>
          </a:p>
          <a:p xmlns:a="http://schemas.openxmlformats.org/drawingml/2006/main">
            <a:r>
              <a:t>D:/Advanced-Topic-in-Computer-Software-Course-Team-D-II/Advanced-Topic-in-Computer-Software-Course-Team-D-II/docs/reviews/05_RETRIEVAL_PR10_FIXES.md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72cdae99e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039bf6d09e478f" /><Relationship Type="http://schemas.openxmlformats.org/officeDocument/2006/relationships/slideLayout" Target="/ppt/slideLayouts/slideLayout1.xml" Id="R7941b536d481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1b536d481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438cbbbce4c96" /><Relationship Type="http://schemas.openxmlformats.org/officeDocument/2006/relationships/notesSlide" Target="/ppt/notesSlides/notesSlide1.xml" Id="R769e2448f446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28c6d97f149ce" /><Relationship Type="http://schemas.openxmlformats.org/officeDocument/2006/relationships/notesSlide" Target="/ppt/notesSlides/notesSlide2.xml" Id="R2140fd7da45d49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386a758144c28" /><Relationship Type="http://schemas.openxmlformats.org/officeDocument/2006/relationships/notesSlide" Target="/ppt/notesSlides/notesSlide3.xml" Id="R8a919f1ea39740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8d5e49b87423c" /><Relationship Type="http://schemas.openxmlformats.org/officeDocument/2006/relationships/chart" Target="/ppt/slides/charts/chart1.xml" Id="R01e14703c0fe45ca" /><Relationship Type="http://schemas.openxmlformats.org/officeDocument/2006/relationships/notesSlide" Target="/ppt/notesSlides/notesSlide4.xml" Id="R1fea2b2ba0e2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fc3e29ae4880" /><Relationship Type="http://schemas.openxmlformats.org/officeDocument/2006/relationships/notesSlide" Target="/ppt/notesSlides/notesSlide5.xml" Id="R10803532a6a4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1e65a989342cf" /><Relationship Type="http://schemas.openxmlformats.org/officeDocument/2006/relationships/notesSlide" Target="/ppt/notesSlides/notesSlide6.xml" Id="Rfc8b5eee988d4d2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p95 สูงสุดรายกลุ่ม (s)</c:v>
          </c:tx>
          <c:spPr>
            <a:solidFill xmlns:a="http://schemas.openxmlformats.org/drawingml/2006/main">
              <a:srgbClr val="9ECB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9474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Hybrid</c:v>
                </c:pt>
                <c:pt idx="1">
                  <c:v>+ ms-marco</c:v>
                </c:pt>
                <c:pt idx="2">
                  <c:v>+ bge-m3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0.069179</c:v>
                </c:pt>
                <c:pt idx="1">
                  <c:v>0.606583</c:v>
                </c:pt>
                <c:pt idx="2">
                  <c:v>12.513614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4F6F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385466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38546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30D1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30D1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71DF8-B56F-48DB-BEC3-30BCDD96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วิธีวัดผลการค้นหาของโมดูล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8FE7E-C488-44A4-A5FC-FF029B7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ผลวัด 27 ก.ย. 2026: eval/results/retrieval.json และ scripts/eval_retrieval.py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0D552-4B5C-4664-BF79-2CD7A37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733AB-906B-4AFB-95A8-9B7BD1AB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E9474E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E9474E"/>
                </a:solidFill>
                <a:latin typeface="Tahoma"/>
                <a:ea typeface="Tahoma"/>
                <a:cs typeface="Tahoma"/>
              </a:rPr>
              <a:t>233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03B3-DB77-47F2-BC2A-EAF34F79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กรณีที่มีเอกสารคำตอบ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20242-CF57-46F0-83F4-BA72EF64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อีก 20 กรณีไม่มีคำตอบในคลัง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4571F-9633-4213-8FF1-A2C467A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1,967 เอกสาร / 1,999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C4BCB-8F30-41F8-85A3-BE9F699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ข้อมูลสด 14 เอกสารเป็นข้อมูลจำลอง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14866-8C3F-4957-9740-4D01271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502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Hit@1 / Hit@5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2A63B-A23B-4F72-989A-868FB25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02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ค้นพบเอกสารคำตอบในอันดับ 1 /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262C6-2634-4BD4-BFD3-0A3EB1F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MRR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0FAA2-FFDD-41F2-951E-4E64FE02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ค่าเฉลี่ย 1 ÷ อันดับเอกสารที่ถูกต้อง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586FF-9823-4DFE-85D5-784D001A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952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p95 latency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189BB-55D4-4C91-B64F-F010628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502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95% ของคำค้นใช้เวลาไม่เกินค่านี้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3B17F-E9F1-498D-AF4E-66510A2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CPU เท่านั้น / warm-up 3 คำถาม / candidate 20 / RRF k=60</a:t>
            </a:r>
          </a:p>
          <a:p xmlns:a="http://schemas.openxmlformats.org/drawingml/2006/main">
            <a:pPr>
              <a:defRPr sz="18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จับเวลาเฉพาะ Searcher.search ไม่รวม HTTP และโหลดโมเดล</a:t>
            </a:r>
          </a:p>
        </p:txBody>
      </p:sp>
    </p:spTree>
    <p:extLst>
      <p:ext uri="{BB962C8B-B14F-4D97-AF65-F5344CB8AC3E}">
        <p14:creationId xmlns:p14="http://schemas.microsoft.com/office/powerpoint/2010/main" val="1914947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C0B2D-C6EF-498A-A6F0-7774024C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ชื่อเล่นทีม: การแก้และกรณีทดสอบ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53A91-0EE8-4E4B-B2B8-204C1836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โค้ด: aliases.py, tokenize.py, hybrid.py และ tests/test_searcher.py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ECD70-7C3D-4AEB-87CF-411AA67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E9025-6772-42D6-9725-C32048B0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9474E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E9474E"/>
                </a:solidFill>
                <a:latin typeface="Tahoma"/>
                <a:ea typeface="Tahoma"/>
                <a:cs typeface="Tahoma"/>
              </a:rPr>
              <a:t>“ปืนใหญ่ชนะไหม”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28D2C-FE65-452E-8513-75F7E2E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ต่อ Arsenal / Arsenal FC ในคำค้น BM25 โดยเก็บ query เดิมไว้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58293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กรณีทดสอบ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พฤติกรรมที่ต้องได้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ปิด alias: ปืนใหญ่ชนะไหม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BM25 ไม่พบเอกสารใน fixture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เปิด alias: ปืนใหญ่ชนะไหม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พบเอกสาร Arsenal (team_id=57)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ผีชนะไหม / ผีเสื้อบินได้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ขยายชื่อทีม / ไม่จับชื่อทีมผิด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01E0E-0F3E-48EB-8343-DD7EF6E4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ชื่อเล่นจาก 07 พร้อมไฟล์สำรอง และ QA ฉายาไทย 20 สโมสรในคลัง</a:t>
            </a:r>
          </a:p>
        </p:txBody>
      </p:sp>
    </p:spTree>
    <p:extLst>
      <p:ext uri="{BB962C8B-B14F-4D97-AF65-F5344CB8AC3E}">
        <p14:creationId xmlns:p14="http://schemas.microsoft.com/office/powerpoint/2010/main" val="1748900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F15AD-FEBD-4457-99CA-2A178260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ผลความถูกต้อง: เอกสารคำตอบอันดับแรก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0BEEC-F0A7-405F-9256-939406B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Hit@1 จาก eval/results/retrieval.json วันที่ 27 ก.ย.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43F1B-4E1F-4696-911D-19B6CB1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34CA5-EF21-490F-9B8C-4709A445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Hit@1 = สัดส่วนคำถามที่เอกสารคำตอบอยู่ลำดับแรก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ชุดทดสอบ (n)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BM25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Vector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ms-marco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bge-m3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ตรงเอกสาร (60)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98.3%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ชื่อเล่น (33)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87.9%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72.7%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84.8%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93.9%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93.9%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คำไม่ครบ (60)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96.7%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80.0%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83.3%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96.7%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ภาษาธรรมชาติ (60)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93.3%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98.3%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98.3%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แมตช์ (20)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85E36-4377-442D-8883-9B6CFBC6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ชุดชื่อเล่น: Hybrid 28/33 เทียบกับ ms-marco 31/33</a:t>
            </a:r>
          </a:p>
        </p:txBody>
      </p:sp>
    </p:spTree>
    <p:extLst>
      <p:ext uri="{BB962C8B-B14F-4D97-AF65-F5344CB8AC3E}">
        <p14:creationId xmlns:p14="http://schemas.microsoft.com/office/powerpoint/2010/main" val="1193172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2BEA3-C5EF-424C-8C07-81FC119E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ผลเวลา: bge เกิน timeout ของการค้นหา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6F3A5-92F2-4C55-A82E-F832FF1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p95 สูงสุดระหว่าง 5 กลุ่ม จาก JSON 27 ก.ย.: 69.2 ms / 606.6 ms / 12.51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4BFDB-0B5E-4E7D-9302-38DAC9A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5CDA8-B7F4-489F-B170-A4D656D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p95 สูงสุดของแต่ละกลุ่ม (วินาที)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7667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e14703c0fe45c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0879C-49F0-481F-8C7F-4C18AB4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714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9474E"/>
                </a:solidFill>
                <a:latin typeface="Tahoma"/>
                <a:ea typeface="Tahoma"/>
                <a:cs typeface="Tahoma"/>
              </a:defRPr>
            </a:pPr>
            <a:r>
              <a:rPr sz="5400" b="1">
                <a:solidFill>
                  <a:srgbClr val="E9474E"/>
                </a:solidFill>
                <a:latin typeface="Tahoma"/>
                <a:ea typeface="Tahoma"/>
                <a:cs typeface="Tahoma"/>
              </a:rPr>
              <a:t>10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3968C-72EE-4DD4-A21F-BD6B4CF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33725"/>
            <a:ext cx="2714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4F6FB"/>
                </a:solidFill>
                <a:latin typeface="Tahoma"/>
                <a:ea typeface="Tahoma"/>
                <a:cs typeface="Tahoma"/>
              </a:rPr>
              <a:t>timeout ของคำขอ</a:t>
            </a:r>
          </a:p>
          <a:p xmlns:a="http://schemas.openxmlformats.org/drawingml/2006/main">
            <a:pPr>
              <a:defRPr sz="2025" b="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4F6FB"/>
                </a:solidFill>
                <a:latin typeface="Tahoma"/>
                <a:ea typeface="Tahoma"/>
                <a:cs typeface="Tahoma"/>
              </a:rPr>
              <a:t>Router ไปโมดูล 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3FDF2-E9A5-45E5-9431-68862C1D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9600"/>
            <a:ext cx="2714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เวลาใน process</a:t>
            </a:r>
          </a:p>
          <a:p xmlns:a="http://schemas.openxmlformats.org/drawingml/2006/main">
            <a:pPr>
              <a:defRPr sz="17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ยังไม่รวม HTTP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5BC1-2D1F-4C32-AF12-E7AC013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README สรุปท้ายไฟล์มีตัวเลขเดิม 13.8 s / 613.7 ms</a:t>
            </a:r>
          </a:p>
          <a:p xmlns:a="http://schemas.openxmlformats.org/drawingml/2006/main">
            <a:pPr>
              <a:defRPr sz="15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สไลด์นี้ยึดผล JSON ปัจจุบัน ซึ่งยังชี้ว่า bge เกิน 10 s</a:t>
            </a:r>
          </a:p>
        </p:txBody>
      </p:sp>
    </p:spTree>
    <p:extLst>
      <p:ext uri="{BB962C8B-B14F-4D97-AF65-F5344CB8AC3E}">
        <p14:creationId xmlns:p14="http://schemas.microsoft.com/office/powerpoint/2010/main" val="850337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016E6-1103-4EDE-9084-6A287C22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ผลคำถามไทย: Router ช่วยบางกลุ่ม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4C06A-B338-4A48-AEDA-C6A7747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Hybrid, ไม่เปิด reranker: eval/results/retrieval_thai.json วันที่ 5 ต.ค.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CBA13-EA20-4C6E-9DA0-EBD5BC7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74238-7B38-4319-B247-5012EDA4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Hit@5 ของ Hybrid ในชุดภาษาไทยล่าสุด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219700"/>
                <a:gridCol w="2876550"/>
                <a:gridCol w="2876550"/>
              </a:tblGrid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คำถามไทย (n)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คำค้นไทยตรง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หลัง Router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ประวัติศาสตร์ (32)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62.5%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96.9%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แมตช์ (20)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40.0%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ความรู้ทั่วไป (39)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76.9%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71.8%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หลายเอกสาร (10)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40.0%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40.0%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A291D-9A57-44B9-BBC4-E8950D24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ผลรวมการ rewrite และกรองข้อมูล ไม่ใช่ A/B ของ alias เพียงอย่างเดียว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218308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D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5B86D-1CA5-4871-8701-7F2994C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ค่าเริ่มต้นและการวัดก่อนเปิด reranker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26297-EB9A-47E3-B7FC-03D4061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อ้างอิง config.py, README และรีวิว PR #10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014E7-EE19-446B-BDA8-8F6AFEE3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99D61-3550-4021-B10D-940568A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9474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9474E"/>
                </a:solidFill>
                <a:latin typeface="Tahoma"/>
                <a:ea typeface="Tahoma"/>
                <a:cs typeface="Tahoma"/>
              </a:rPr>
              <a:t>ค่าเริ่มต้น: ปิด reranker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5E8C4-8740-468B-848F-D0A7DE61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เปิดด้วย RERANK_MODEL หลังวัดเอกสาร 07 และ query ของ Router บนเครื่องจริง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A31DD-37EE-45E7-86D3-0FA1B54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6F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4F6FB"/>
                </a:solidFill>
                <a:latin typeface="Tahoma"/>
                <a:ea typeface="Tahoma"/>
                <a:cs typeface="Tahoma"/>
              </a:rPr>
              <a:t>ผล /search ผ่าน HTTP ที่ README รายงานแยก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63855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019800"/>
                <a:gridCol w="2476500"/>
                <a:gridCol w="2476500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ms-marco ผ่าน HTTP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AFC2D7"/>
                          </a:solidFill>
                          <a:latin typeface="Tahoma"/>
                          <a:ea typeface="Tahoma"/>
                          <a:cs typeface="Tahoma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071723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ทำงานปกติ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471 ms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ระหว่าง rebuild ทั้งคลัง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397 ms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6FB"/>
                          </a:solidFill>
                          <a:latin typeface="Tahoma"/>
                          <a:ea typeface="Tahoma"/>
                          <a:cs typeface="Tahoma"/>
                        </a:rPr>
                        <a:t>678 ms</a:t>
                      </a:r>
                    </a:p>
                  </a:txBody>
                  <a:tcPr marL="91440" marR="91440" marT="45720" marB="45720">
                    <a:solidFill>
                      <a:srgbClr val="030D1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ED824-44BB-4352-AD73-F71A376A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วัดซ้ำแบบปิด/เปิดบนข้อมูลเดียวกัน พร้อมชื่อเล่น คำถามไม่มีคำตอบ และงาน rebuild</a:t>
            </a:r>
          </a:p>
          <a:p xmlns:a="http://schemas.openxmlformats.org/drawingml/2006/main">
            <a:pPr>
              <a:defRPr sz="1575" b="0">
                <a:solidFill>
                  <a:srgbClr val="AFC2D7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FC2D7"/>
                </a:solidFill>
                <a:latin typeface="Tahoma"/>
                <a:ea typeface="Tahoma"/>
                <a:cs typeface="Tahoma"/>
              </a:rPr>
              <a:t>บันทึกความถูกต้อง เวลาผ่าน HTTP และจำนวนคำขอที่ timeout</a:t>
            </a:r>
          </a:p>
        </p:txBody>
      </p:sp>
    </p:spTree>
    <p:extLst>
      <p:ext uri="{BB962C8B-B14F-4D97-AF65-F5344CB8AC3E}">
        <p14:creationId xmlns:p14="http://schemas.microsoft.com/office/powerpoint/2010/main" val="13698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2026-10-06T13:58:06.3730000Z</dcterms:created>
  <dcterms:modified xsi:type="dcterms:W3CDTF">2026-10-06T13:58:06.3730000Z</dcterms:modified>
</coreProperties>
</file>